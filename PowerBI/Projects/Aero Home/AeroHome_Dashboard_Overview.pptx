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03120"/>
            <a:ext cx="5943600" cy="594360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206240"/>
            <a:ext cx="4206240" cy="420624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PERFORMANCE ANALYTICS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AeroHome Production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Dashboard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58368" y="3703320"/>
            <a:ext cx="18288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88620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COO-level view connecting production shortfall to the plants, downtime causes, quality issues, machine performance, and supplier delays behind it.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525780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141B4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54864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486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5349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Rithiha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5742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Problem &amp; Solution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Diagnosing AeroHome's production shortfall down to its operational root causes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105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830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2316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AeroHome improve production plan attainment by identifying the plants, downtime causes, quality issues, and supplier delays contributing to the production shortfall?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68680" y="3712464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35844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meeting our production plan?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4078224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7280" y="3950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main causes of downtime?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" y="4443984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431596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suppliers cause the most PO delays?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680" y="4809744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97280" y="46817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plants show the largest shortfall?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" y="5175504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7280" y="50474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products have high defect rates?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68680" y="5541264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97280" y="54132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machines are underperforming?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72200" y="1508760"/>
            <a:ext cx="5440680" cy="4709160"/>
          </a:xfrm>
          <a:prstGeom prst="roundRect">
            <a:avLst>
              <a:gd name="adj" fmla="val 1553"/>
            </a:avLst>
          </a:prstGeom>
          <a:solidFill>
            <a:srgbClr val="1E2761"/>
          </a:solidFill>
          <a:ln/>
        </p:spPr>
      </p:sp>
      <p:sp>
        <p:nvSpPr>
          <p:cNvPr id="22" name="Shape 20"/>
          <p:cNvSpPr/>
          <p:nvPr/>
        </p:nvSpPr>
        <p:spPr>
          <a:xfrm>
            <a:off x="6492240" y="1810512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17830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39572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Power BI dashboard connecting production performance to the operational factors management can act on.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2004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Attainment Trend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4381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Production Attainment % over time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68503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Pareto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9227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downtime reasons by cumulative impact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16966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Waterfall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407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each plant's shortfall contribution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6542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Ranking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4892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products with high defect rates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51389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Matrix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3766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attainment vs. downtime by machine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56235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Scatter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58613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high-delay suppliers by PO volume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dashboard reveals about the production shortfall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84832" cy="1234440"/>
          </a:xfrm>
          <a:prstGeom prst="roundRect">
            <a:avLst>
              <a:gd name="adj" fmla="val 518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96.26%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Attainment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70632" y="1508760"/>
            <a:ext cx="2084832" cy="1234440"/>
          </a:xfrm>
          <a:prstGeom prst="roundRect">
            <a:avLst>
              <a:gd name="adj" fmla="val 5185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70632" y="16002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-41,425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770632" y="214884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Shortfall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992624" y="1508760"/>
            <a:ext cx="2084832" cy="1234440"/>
          </a:xfrm>
          <a:prstGeom prst="roundRect">
            <a:avLst>
              <a:gd name="adj" fmla="val 5185"/>
            </a:avLst>
          </a:prstGeom>
          <a:solidFill>
            <a:srgbClr val="F4F6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92624" y="16002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122,329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14884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(min)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14616" y="1508760"/>
            <a:ext cx="2084832" cy="1234440"/>
          </a:xfrm>
          <a:prstGeom prst="roundRect">
            <a:avLst>
              <a:gd name="adj" fmla="val 5185"/>
            </a:avLst>
          </a:prstGeom>
          <a:solidFill>
            <a:srgbClr val="F4F6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14616" y="16002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1.71%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214616" y="214884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6608" y="1508760"/>
            <a:ext cx="2084832" cy="1234440"/>
          </a:xfrm>
          <a:prstGeom prst="roundRect">
            <a:avLst>
              <a:gd name="adj" fmla="val 5185"/>
            </a:avLst>
          </a:prstGeom>
          <a:solidFill>
            <a:srgbClr val="F4F6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436608" y="16002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16.55%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436608" y="214884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Rate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01752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17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9626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trails plan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3236976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96.26% attainment confirms actual output is running below the planned level.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57987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5798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52501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Shortfall is concentrated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799332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plant waterfall pinpoints specific plants driving most of the -41,425 unit gap, not a uniform company-wide issue.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142232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08736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is actionable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4361688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set of downtime reasons account for the largest share of the 122,329 minutes lost.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70458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7045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05840" y="464972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issues trace to specific products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" y="4924044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Defect-rate ranking highlights the products most in need of process review.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5266944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5266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005840" y="521208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add a diagnostic layer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005840" y="548640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performance matrix flags machines combining weak attainment with high downtime.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82930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58293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1005840" y="57744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delays add supply-chain risk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1005840" y="6048756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16.55% PO delay rate highlights suppliers needing procurement follow-up.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dashboard's findings into operational follow-up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1051560"/>
          </a:xfrm>
          <a:prstGeom prst="roundRect">
            <a:avLst>
              <a:gd name="adj" fmla="val 6087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85623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830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the plants with the largest negative contribution to Production Shortfall.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257800" cy="1051560"/>
          </a:xfrm>
          <a:prstGeom prst="roundRect">
            <a:avLst>
              <a:gd name="adj" fmla="val 6087"/>
            </a:avLst>
          </a:prstGeom>
          <a:solidFill>
            <a:srgbClr val="F4F6FC"/>
          </a:solidFill>
          <a:ln/>
        </p:spPr>
      </p:sp>
      <p:sp>
        <p:nvSpPr>
          <p:cNvPr id="9" name="Shape 7"/>
          <p:cNvSpPr/>
          <p:nvPr/>
        </p:nvSpPr>
        <p:spPr>
          <a:xfrm>
            <a:off x="6336792" y="185623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336792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7830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the downtime reasons identified by the Pareto analysis that account for the greatest lost time.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5257800" cy="1051560"/>
          </a:xfrm>
          <a:prstGeom prst="roundRect">
            <a:avLst>
              <a:gd name="adj" fmla="val 6087"/>
            </a:avLst>
          </a:prstGeom>
          <a:solidFill>
            <a:srgbClr val="F4F6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13232" y="309067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0175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products with the highest defect rates for quality and process issues.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2926080"/>
            <a:ext cx="5257800" cy="1051560"/>
          </a:xfrm>
          <a:prstGeom prst="roundRect">
            <a:avLst>
              <a:gd name="adj" fmla="val 6087"/>
            </a:avLst>
          </a:prstGeom>
          <a:solidFill>
            <a:srgbClr val="F4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6792" y="309067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336792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30175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machines showing lower attainment and higher downtime.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5257800" cy="1051560"/>
          </a:xfrm>
          <a:prstGeom prst="roundRect">
            <a:avLst>
              <a:gd name="adj" fmla="val 6087"/>
            </a:avLst>
          </a:prstGeom>
          <a:solidFill>
            <a:srgbClr val="F4F6FC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432511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42519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up with suppliers showing higher purchase-order delay rates.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72200" y="4160520"/>
            <a:ext cx="5257800" cy="1051560"/>
          </a:xfrm>
          <a:prstGeom prst="roundRect">
            <a:avLst>
              <a:gd name="adj" fmla="val 6087"/>
            </a:avLst>
          </a:prstGeom>
          <a:solidFill>
            <a:srgbClr val="F4F6FC"/>
          </a:solidFill>
          <a:ln/>
        </p:spPr>
      </p:sp>
      <p:sp>
        <p:nvSpPr>
          <p:cNvPr id="25" name="Shape 23"/>
          <p:cNvSpPr/>
          <p:nvPr/>
        </p:nvSpPr>
        <p:spPr>
          <a:xfrm>
            <a:off x="6336792" y="432511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6336792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42519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plant, product, supplier and period slicers for targeted investigation over relying on overall KPIs alone.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5257800" cy="1051560"/>
          </a:xfrm>
          <a:prstGeom prst="roundRect">
            <a:avLst>
              <a:gd name="adj" fmla="val 6087"/>
            </a:avLst>
          </a:prstGeom>
          <a:solidFill>
            <a:srgbClr val="F4F6FC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232" y="555955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5559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548640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monitoring Production Attainment % to catch deviations from plan early.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  →  Shortfall  →  Plant Contribution  →  Downtime  →  Quality  →  Machines  →  Suppliers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2026-09-12T10:43:10Z</dcterms:created>
  <dcterms:modified xsi:type="dcterms:W3CDTF">2026-09-12T10:43:10Z</dcterms:modified>
</cp:coreProperties>
</file>