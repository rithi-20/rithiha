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A26769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389120"/>
            <a:ext cx="3474720" cy="3474720"/>
          </a:xfrm>
          <a:prstGeom prst="ellipse">
            <a:avLst/>
          </a:prstGeom>
          <a:solidFill>
            <a:srgbClr val="A26769">
              <a:alpha val="2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RETAIL ANALYTICS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8778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TrendKart Fashion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Analysis Dashboard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6576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Diagnosing the October → November 2024 sales decline and turning it into an action plan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343400"/>
            <a:ext cx="1005840" cy="0"/>
          </a:xfrm>
          <a:prstGeom prst="line">
            <a:avLst/>
          </a:prstGeom>
          <a:noFill/>
          <a:ln w="31750">
            <a:solidFill>
              <a:srgbClr val="A2676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5262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Rithiha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01091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– Data Cleaning, PivotTables &amp; Interactive Dashboard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1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did sales fall sharply after the October peak?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76479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₹15.19L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4144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Sales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3405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month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10712" y="160020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47872" y="176479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₹10.54L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547872" y="244144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 Sales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547872" y="273405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drop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81344" y="160020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318504" y="176479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30.6%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318504" y="244144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 Decline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318504" y="273405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sales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951976" y="160020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089136" y="176479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31.4%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9089136" y="244144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Orders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089136" y="273405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→ 351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337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</a:t>
            </a:r>
            <a:pPr indent="0" marL="0">
              <a:buNone/>
            </a:pPr>
            <a:r>
              <a:rPr lang="en-US" sz="1400" dirty="0">
                <a:solidFill>
                  <a:srgbClr val="2A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was a volume problem, not a spending problem — average order value actually rose slightly (₹2,967 → ₹3,004).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4069080"/>
            <a:ext cx="566928" cy="566928"/>
          </a:xfrm>
          <a:prstGeom prst="ellipse">
            <a:avLst/>
          </a:prstGeom>
          <a:solidFill>
            <a:srgbClr val="ECE2D0"/>
          </a:solidFill>
          <a:ln/>
        </p:spPr>
      </p:sp>
      <p:pic>
        <p:nvPicPr>
          <p:cNvPr id="22" name="Image 0" descr="/home/claude/trendkart/store_6D2E4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4187952"/>
            <a:ext cx="329184" cy="329184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389888" y="4032504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Channel</a:t>
            </a:r>
            <a:endParaRPr lang="en-US" sz="1350" dirty="0"/>
          </a:p>
        </p:txBody>
      </p:sp>
      <p:sp>
        <p:nvSpPr>
          <p:cNvPr id="24" name="Text 21"/>
          <p:cNvSpPr txBox="1"/>
          <p:nvPr/>
        </p:nvSpPr>
        <p:spPr>
          <a:xfrm>
            <a:off x="1389888" y="434340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₹3.47L drop (34.1%) — the single largest contributor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263640" y="4069080"/>
            <a:ext cx="566928" cy="566928"/>
          </a:xfrm>
          <a:prstGeom prst="ellipse">
            <a:avLst/>
          </a:prstGeom>
          <a:solidFill>
            <a:srgbClr val="ECE2D0"/>
          </a:solidFill>
          <a:ln/>
        </p:spPr>
      </p:sp>
      <p:pic>
        <p:nvPicPr>
          <p:cNvPr id="26" name="Image 1" descr="/home/claude/trendkart/boxes_6D2E4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4187952"/>
            <a:ext cx="329184" cy="329184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7013448" y="4032504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Handbags, Sarees, Footwear</a:t>
            </a:r>
            <a:endParaRPr lang="en-US" sz="1350" dirty="0"/>
          </a:p>
        </p:txBody>
      </p:sp>
      <p:sp>
        <p:nvSpPr>
          <p:cNvPr id="28" name="Text 24"/>
          <p:cNvSpPr txBox="1"/>
          <p:nvPr/>
        </p:nvSpPr>
        <p:spPr>
          <a:xfrm>
            <a:off x="7013448" y="434340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47%, 44% and 43% respectively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640080" y="5303520"/>
            <a:ext cx="566928" cy="566928"/>
          </a:xfrm>
          <a:prstGeom prst="ellipse">
            <a:avLst/>
          </a:prstGeom>
          <a:solidFill>
            <a:srgbClr val="ECE2D0"/>
          </a:solidFill>
          <a:ln/>
        </p:spPr>
      </p:sp>
      <p:pic>
        <p:nvPicPr>
          <p:cNvPr id="30" name="Image 2" descr="/home/claude/trendkart/map_6D2E4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5422392"/>
            <a:ext cx="329184" cy="329184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1389888" y="5266944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Zone 1 &amp; 2</a:t>
            </a:r>
            <a:endParaRPr lang="en-US" sz="1350" dirty="0"/>
          </a:p>
        </p:txBody>
      </p:sp>
      <p:sp>
        <p:nvSpPr>
          <p:cNvPr id="32" name="Text 27"/>
          <p:cNvSpPr txBox="1"/>
          <p:nvPr/>
        </p:nvSpPr>
        <p:spPr>
          <a:xfrm>
            <a:off x="1389888" y="557784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Declined 32.7% and 38.0% — largest regional loss</a:t>
            </a:r>
            <a:endParaRPr lang="en-US" sz="1150" dirty="0"/>
          </a:p>
        </p:txBody>
      </p:sp>
      <p:sp>
        <p:nvSpPr>
          <p:cNvPr id="33" name="Shape 28"/>
          <p:cNvSpPr/>
          <p:nvPr/>
        </p:nvSpPr>
        <p:spPr>
          <a:xfrm>
            <a:off x="6263640" y="5303520"/>
            <a:ext cx="566928" cy="566928"/>
          </a:xfrm>
          <a:prstGeom prst="ellipse">
            <a:avLst/>
          </a:prstGeom>
          <a:solidFill>
            <a:srgbClr val="ECE2D0"/>
          </a:solidFill>
          <a:ln/>
        </p:spPr>
      </p:sp>
      <p:pic>
        <p:nvPicPr>
          <p:cNvPr id="34" name="Image 3" descr="/home/claude/trendkart/chartline_6D2E4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512" y="5422392"/>
            <a:ext cx="329184" cy="329184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7013448" y="5266944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Sales</a:t>
            </a:r>
            <a:endParaRPr lang="en-US" sz="1350" dirty="0"/>
          </a:p>
        </p:txBody>
      </p:sp>
      <p:sp>
        <p:nvSpPr>
          <p:cNvPr id="36" name="Text 30"/>
          <p:cNvSpPr txBox="1"/>
          <p:nvPr/>
        </p:nvSpPr>
        <p:spPr>
          <a:xfrm>
            <a:off x="7013448" y="557784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Fell 42.7% vs. 25.3% on weekdays; profit down 35.4%</a:t>
            </a:r>
            <a:endParaRPr lang="en-US" sz="1150" dirty="0"/>
          </a:p>
        </p:txBody>
      </p:sp>
      <p:sp>
        <p:nvSpPr>
          <p:cNvPr id="37" name="Text 31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3,000 cleaned sales transactions | April 2024 – March 2025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1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 volume. Protect profit. Target the leaks.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258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A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recover lost transaction volume and improve post-peak retention while holding average order value and profitability steady.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167128"/>
            <a:ext cx="502920" cy="50292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7" name="Image 0" descr="/home/claude/trendkart/sync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286000"/>
            <a:ext cx="265176" cy="26517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41248" y="2770632"/>
            <a:ext cx="3118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2A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Transaction Volume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3227832"/>
            <a:ext cx="3118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Re-target October's buyers with repeat-purchase campaigns; track order count alongside AOV, not AOV alone.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89120" y="196596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90288" y="2167128"/>
            <a:ext cx="502920" cy="50292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2" name="Image 1" descr="/home/claude/trendkart/stor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2286000"/>
            <a:ext cx="265176" cy="26517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90288" y="2770632"/>
            <a:ext cx="3118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2A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Offline &amp; Online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4590288" y="3227832"/>
            <a:ext cx="3118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Offline channel first (largest loss); identify why digital sales also softened.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138160" y="196596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39328" y="2167128"/>
            <a:ext cx="502920" cy="50292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7" name="Image 2" descr="/home/claude/trendkart/boxes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2286000"/>
            <a:ext cx="265176" cy="26517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39328" y="2770632"/>
            <a:ext cx="3118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2A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Rescue Key Categories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8339328" y="3227832"/>
            <a:ext cx="3118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Handbags, Women Sarees &amp; Footwear for inventory checks, demand review and promotions.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40080" y="416052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2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41248" y="4361688"/>
            <a:ext cx="502920" cy="50292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22" name="Image 3" descr="/home/claude/trendkart/map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480560"/>
            <a:ext cx="265176" cy="265176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41248" y="4965192"/>
            <a:ext cx="3118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2A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Store-Level in the South</a:t>
            </a:r>
            <a:endParaRPr lang="en-US" sz="1350" dirty="0"/>
          </a:p>
        </p:txBody>
      </p:sp>
      <p:sp>
        <p:nvSpPr>
          <p:cNvPr id="24" name="Text 18"/>
          <p:cNvSpPr txBox="1"/>
          <p:nvPr/>
        </p:nvSpPr>
        <p:spPr>
          <a:xfrm>
            <a:off x="841248" y="5422392"/>
            <a:ext cx="3118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into South Zone 1 &amp; 2 stores to isolate which locations drove the regional decline.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389120" y="416052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2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90288" y="4361688"/>
            <a:ext cx="502920" cy="50292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27" name="Image 4" descr="/home/claude/trendkart/bullseye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4480560"/>
            <a:ext cx="265176" cy="265176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4590288" y="4965192"/>
            <a:ext cx="3118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2A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High-Loss Products</a:t>
            </a:r>
            <a:endParaRPr lang="en-US" sz="1350" dirty="0"/>
          </a:p>
        </p:txBody>
      </p:sp>
      <p:sp>
        <p:nvSpPr>
          <p:cNvPr id="29" name="Text 22"/>
          <p:cNvSpPr txBox="1"/>
          <p:nvPr/>
        </p:nvSpPr>
        <p:spPr>
          <a:xfrm>
            <a:off x="4590288" y="5422392"/>
            <a:ext cx="3118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products by Oct−Nov sales decline and act on the top losers first.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8138160" y="416052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2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339328" y="4361688"/>
            <a:ext cx="502920" cy="50292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32" name="Image 5" descr="/home/claude/trendkart/chartline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0" y="4480560"/>
            <a:ext cx="265176" cy="265176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8339328" y="4965192"/>
            <a:ext cx="3118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2A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Monitor, Don't Assume</a:t>
            </a:r>
            <a:endParaRPr lang="en-US" sz="1350" dirty="0"/>
          </a:p>
        </p:txBody>
      </p:sp>
      <p:sp>
        <p:nvSpPr>
          <p:cNvPr id="34" name="Text 26"/>
          <p:cNvSpPr txBox="1"/>
          <p:nvPr/>
        </p:nvSpPr>
        <p:spPr>
          <a:xfrm>
            <a:off x="8339328" y="5422392"/>
            <a:ext cx="3118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monthly sales &amp; profit continuously so a strong peak isn't mistaken for the new baseline.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5120640"/>
            <a:ext cx="3200400" cy="3200400"/>
          </a:xfrm>
          <a:prstGeom prst="ellipse">
            <a:avLst/>
          </a:prstGeom>
          <a:solidFill>
            <a:srgbClr val="A26769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2926080" cy="2926080"/>
          </a:xfrm>
          <a:prstGeom prst="ellipse">
            <a:avLst/>
          </a:prstGeom>
          <a:solidFill>
            <a:srgbClr val="A26769">
              <a:alpha val="2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volume problem, not a spending problem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8132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fell 30.6% because order volume dropped 31.4%, while average order value held broadly stable. The fix is to bring buyers back — not to chase bigger baskets.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2468880" cy="1143000"/>
          </a:xfrm>
          <a:prstGeom prst="roundRect">
            <a:avLst>
              <a:gd name="adj" fmla="val 6400"/>
            </a:avLst>
          </a:prstGeom>
          <a:solidFill>
            <a:srgbClr val="7A3A5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468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₹92.27L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017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2331720"/>
            <a:ext cx="2468880" cy="1143000"/>
          </a:xfrm>
          <a:prstGeom prst="roundRect">
            <a:avLst>
              <a:gd name="adj" fmla="val 6400"/>
            </a:avLst>
          </a:prstGeom>
          <a:solidFill>
            <a:srgbClr val="7A3A5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74720" y="2468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₹18.01L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3017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2331720"/>
            <a:ext cx="2468880" cy="1143000"/>
          </a:xfrm>
          <a:prstGeom prst="roundRect">
            <a:avLst>
              <a:gd name="adj" fmla="val 6400"/>
            </a:avLst>
          </a:prstGeom>
          <a:solidFill>
            <a:srgbClr val="7A3A5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2468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3,000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3017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732520" y="2331720"/>
            <a:ext cx="2468880" cy="1143000"/>
          </a:xfrm>
          <a:prstGeom prst="roundRect">
            <a:avLst>
              <a:gd name="adj" fmla="val 6400"/>
            </a:avLst>
          </a:prstGeom>
          <a:solidFill>
            <a:srgbClr val="7A3A5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869680" y="2468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19.52%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869680" y="3017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794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4242816"/>
            <a:ext cx="237744" cy="237744"/>
          </a:xfrm>
          <a:prstGeom prst="ellipse">
            <a:avLst/>
          </a:prstGeom>
          <a:solidFill>
            <a:srgbClr val="ECE2D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42336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416966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repeat-purchase campaigns targeting October buyers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4700016"/>
            <a:ext cx="237744" cy="237744"/>
          </a:xfrm>
          <a:prstGeom prst="ellipse">
            <a:avLst/>
          </a:prstGeom>
          <a:solidFill>
            <a:srgbClr val="ECE2D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" y="46908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005840" y="462686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the Offline channel and top-losing stores in South Zone 1 &amp; 2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5157216"/>
            <a:ext cx="237744" cy="237744"/>
          </a:xfrm>
          <a:prstGeom prst="ellipse">
            <a:avLst/>
          </a:prstGeom>
          <a:solidFill>
            <a:srgbClr val="ECE2D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0080" y="51480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005840" y="508406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Re-stock and promote Handbags, Women Sarees &amp; Footwear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" y="5614416"/>
            <a:ext cx="237744" cy="237744"/>
          </a:xfrm>
          <a:prstGeom prst="ellipse">
            <a:avLst/>
          </a:prstGeom>
          <a:solidFill>
            <a:srgbClr val="ECE2D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0080" y="56052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005840" y="554126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monthly sales vs. profit to catch the next dip early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64465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TrendKart Fashion Sales Dashboard  –  Prepared by Rithiha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2026-08-28T15:58:58Z</dcterms:created>
  <dcterms:modified xsi:type="dcterms:W3CDTF">2026-08-28T15:58:58Z</dcterms:modified>
</cp:coreProperties>
</file>