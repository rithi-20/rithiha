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8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6116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 slide: FreshMart Sales Analysis Dashboard, built in Excel by Rithiha U, Junior Software Developer at Fuzionest Private Limited.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business problem: FreshMart needed to identify what drives profitable growth across products, categories, channels and time — broken into three concrete gaps in visibility.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solution: a 3-step Excel workflow (clean, model, design) delivering a question-led interactive dashboard with four headline KPIs.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slide: headline insight that top sales and top profit categories differ, plus four concrete recommendations for profitable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10241B">
              <a:alpha val="6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645920" y="4572000"/>
            <a:ext cx="3657600" cy="3657600"/>
          </a:xfrm>
          <a:prstGeom prst="ellipse">
            <a:avLst/>
          </a:prstGeom>
          <a:solidFill>
            <a:srgbClr val="95D5B2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22960" y="777240"/>
            <a:ext cx="914400" cy="9144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0058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DASHBOARD PROJECT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31720"/>
            <a:ext cx="9875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FreshMart Sales Analysis Dashboard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7947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8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2,500 raw transactions into clear, data-driven decisions on sales, profit and channel performance.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5120640"/>
            <a:ext cx="5120640" cy="1097280"/>
          </a:xfrm>
          <a:prstGeom prst="roundRect">
            <a:avLst>
              <a:gd name="adj" fmla="val 8333"/>
            </a:avLst>
          </a:prstGeom>
          <a:solidFill>
            <a:srgbClr val="10241B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1097280" y="525780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Rithiha U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1B4332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68680" y="1874520"/>
            <a:ext cx="685800" cy="6858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2039112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74520" y="1737360"/>
            <a:ext cx="9464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FreshMart improve profitable growth by identifying the key drivers of its sales and profitability across products, categories, sales channels and time?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337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had sales data — but no clear view of what was actually driving it. Three questions needed answers: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886200"/>
            <a:ext cx="353872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1E8E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822960" y="4160520"/>
            <a:ext cx="594360" cy="594360"/>
          </a:xfrm>
          <a:prstGeom prst="ellipse">
            <a:avLst/>
          </a:prstGeom>
          <a:solidFill>
            <a:srgbClr val="95D5B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4288536"/>
            <a:ext cx="338328" cy="33832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04672" y="489204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is performance going?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804672" y="539496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profit move month to month with no visibility into trends or seasonal dips.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306824" y="3886200"/>
            <a:ext cx="353872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1E8E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4581144" y="4160520"/>
            <a:ext cx="594360" cy="594360"/>
          </a:xfrm>
          <a:prstGeom prst="ellipse">
            <a:avLst/>
          </a:prstGeom>
          <a:solidFill>
            <a:srgbClr val="95D5B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4288536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562856" y="489204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really driving revenue?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4562856" y="539496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clarity on which products and categories drive sales versus which drive profit.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065008" y="3886200"/>
            <a:ext cx="353872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1E8E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8339328" y="4160520"/>
            <a:ext cx="594360" cy="594360"/>
          </a:xfrm>
          <a:prstGeom prst="ellipse">
            <a:avLst/>
          </a:prstGeom>
          <a:solidFill>
            <a:srgbClr val="95D5B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7344" y="4288536"/>
            <a:ext cx="338328" cy="33832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321040" y="489204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channel deserves focus?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8321040" y="539496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In-Store, Online and Mobile App contribution was never compared side by side.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Solution: An Interactive Excel Dashboard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66928" cy="566928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1815084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6642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Clean &amp; Profile the Data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984248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 transactions cleaned with Power Query — fixed dates, standardized payment modes, resolved missing IDs.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862072"/>
            <a:ext cx="566928" cy="566928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" y="2985516"/>
            <a:ext cx="320040" cy="3200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2834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Model with PivotTables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1280160" y="315468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Pivot-based KPIs across time, category, product and channel using slicers for interactivity.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4032504"/>
            <a:ext cx="566928" cy="566928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" y="4155948"/>
            <a:ext cx="320040" cy="3200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80160" y="400507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Design a Question-Led Dashboard</a:t>
            </a:r>
            <a:endParaRPr lang="en-US" sz="1450" dirty="0"/>
          </a:p>
        </p:txBody>
      </p:sp>
      <p:sp>
        <p:nvSpPr>
          <p:cNvPr id="15" name="Text 10"/>
          <p:cNvSpPr txBox="1"/>
          <p:nvPr/>
        </p:nvSpPr>
        <p:spPr>
          <a:xfrm>
            <a:off x="1280160" y="4325112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framed around business questions, not generic labels — each visual answers a management question directly.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720840" y="1691640"/>
            <a:ext cx="4892040" cy="4572000"/>
          </a:xfrm>
          <a:prstGeom prst="roundRect">
            <a:avLst>
              <a:gd name="adj" fmla="val 2000"/>
            </a:avLst>
          </a:prstGeom>
          <a:solidFill>
            <a:srgbClr val="1B4332"/>
          </a:solidFill>
          <a:ln/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2"/>
          <p:cNvSpPr txBox="1"/>
          <p:nvPr/>
        </p:nvSpPr>
        <p:spPr>
          <a:xfrm>
            <a:off x="7086600" y="198424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AT A GLANCE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7086600" y="2468880"/>
            <a:ext cx="1965960" cy="1051560"/>
          </a:xfrm>
          <a:prstGeom prst="roundRect">
            <a:avLst>
              <a:gd name="adj" fmla="val 6087"/>
            </a:avLst>
          </a:prstGeom>
          <a:solidFill>
            <a:srgbClr val="10241B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4"/>
          <p:cNvSpPr txBox="1"/>
          <p:nvPr/>
        </p:nvSpPr>
        <p:spPr>
          <a:xfrm>
            <a:off x="7251192" y="2578608"/>
            <a:ext cx="1636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₹28.95L</a:t>
            </a:r>
            <a:endParaRPr lang="en-US" sz="2400" dirty="0"/>
          </a:p>
        </p:txBody>
      </p:sp>
      <p:sp>
        <p:nvSpPr>
          <p:cNvPr id="20" name="Text 15"/>
          <p:cNvSpPr txBox="1"/>
          <p:nvPr/>
        </p:nvSpPr>
        <p:spPr>
          <a:xfrm>
            <a:off x="7251192" y="3108960"/>
            <a:ext cx="1636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9281160" y="2468880"/>
            <a:ext cx="1965960" cy="1051560"/>
          </a:xfrm>
          <a:prstGeom prst="roundRect">
            <a:avLst>
              <a:gd name="adj" fmla="val 6087"/>
            </a:avLst>
          </a:prstGeom>
          <a:solidFill>
            <a:srgbClr val="10241B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7"/>
          <p:cNvSpPr txBox="1"/>
          <p:nvPr/>
        </p:nvSpPr>
        <p:spPr>
          <a:xfrm>
            <a:off x="9445752" y="2578608"/>
            <a:ext cx="1636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₹7.37L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9445752" y="3108960"/>
            <a:ext cx="1636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7086600" y="3749040"/>
            <a:ext cx="1965960" cy="1051560"/>
          </a:xfrm>
          <a:prstGeom prst="roundRect">
            <a:avLst>
              <a:gd name="adj" fmla="val 6087"/>
            </a:avLst>
          </a:prstGeom>
          <a:solidFill>
            <a:srgbClr val="10241B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0"/>
          <p:cNvSpPr txBox="1"/>
          <p:nvPr/>
        </p:nvSpPr>
        <p:spPr>
          <a:xfrm>
            <a:off x="7251192" y="3858768"/>
            <a:ext cx="1636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2,500</a:t>
            </a:r>
            <a:endParaRPr lang="en-US" sz="2400" dirty="0"/>
          </a:p>
        </p:txBody>
      </p:sp>
      <p:sp>
        <p:nvSpPr>
          <p:cNvPr id="26" name="Text 21"/>
          <p:cNvSpPr txBox="1"/>
          <p:nvPr/>
        </p:nvSpPr>
        <p:spPr>
          <a:xfrm>
            <a:off x="7251192" y="4389120"/>
            <a:ext cx="1636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9281160" y="3749040"/>
            <a:ext cx="1965960" cy="1051560"/>
          </a:xfrm>
          <a:prstGeom prst="roundRect">
            <a:avLst>
              <a:gd name="adj" fmla="val 6087"/>
            </a:avLst>
          </a:prstGeom>
          <a:solidFill>
            <a:srgbClr val="10241B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3"/>
          <p:cNvSpPr txBox="1"/>
          <p:nvPr/>
        </p:nvSpPr>
        <p:spPr>
          <a:xfrm>
            <a:off x="9445752" y="3858768"/>
            <a:ext cx="1636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₹1,158</a:t>
            </a:r>
            <a:endParaRPr lang="en-US" sz="2400" dirty="0"/>
          </a:p>
        </p:txBody>
      </p:sp>
      <p:sp>
        <p:nvSpPr>
          <p:cNvPr id="29" name="Text 24"/>
          <p:cNvSpPr txBox="1"/>
          <p:nvPr/>
        </p:nvSpPr>
        <p:spPr>
          <a:xfrm>
            <a:off x="9445752" y="4389120"/>
            <a:ext cx="1636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SALE VALUE</a:t>
            </a:r>
            <a:endParaRPr lang="en-US" sz="1000" dirty="0"/>
          </a:p>
        </p:txBody>
      </p:sp>
      <p:sp>
        <p:nvSpPr>
          <p:cNvPr id="30" name="Text 25"/>
          <p:cNvSpPr txBox="1"/>
          <p:nvPr/>
        </p:nvSpPr>
        <p:spPr>
          <a:xfrm>
            <a:off x="7086600" y="493776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D8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slicers let management filter every view by Year, Sales Channel and Product Category.</a:t>
            </a:r>
            <a:endParaRPr lang="en-US" sz="1150" dirty="0"/>
          </a:p>
        </p:txBody>
      </p:sp>
      <p:sp>
        <p:nvSpPr>
          <p:cNvPr id="31" name="Shape 26"/>
          <p:cNvSpPr/>
          <p:nvPr/>
        </p:nvSpPr>
        <p:spPr>
          <a:xfrm>
            <a:off x="7086600" y="4800600"/>
            <a:ext cx="4160520" cy="0"/>
          </a:xfrm>
          <a:prstGeom prst="line">
            <a:avLst/>
          </a:prstGeom>
          <a:noFill/>
          <a:ln w="9525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4846320"/>
            <a:ext cx="4114800" cy="4114800"/>
          </a:xfrm>
          <a:prstGeom prst="ellipse">
            <a:avLst/>
          </a:prstGeom>
          <a:solidFill>
            <a:srgbClr val="10241B">
              <a:alpha val="6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NEXT STEPS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772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&amp; Recommendations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64792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554480"/>
            <a:ext cx="9829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Beverages leads on sales (₹4.75L), but </a:t>
            </a: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Bakery drives the highest profit (₹1.49L)</a:t>
            </a:r>
            <a:r>
              <a:rPr lang="en-US" sz="13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proof that top revenue and top profit are not the same thing.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651760"/>
            <a:ext cx="5303520" cy="1600200"/>
          </a:xfrm>
          <a:prstGeom prst="roundRect">
            <a:avLst>
              <a:gd name="adj" fmla="val 4571"/>
            </a:avLst>
          </a:prstGeom>
          <a:solidFill>
            <a:srgbClr val="10241B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896112" y="2907792"/>
            <a:ext cx="548640" cy="54864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3026664"/>
            <a:ext cx="310896" cy="31089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00200" y="2834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 Weaker Channels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600200" y="321868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In-Store leads at ₹19.9L, but Online (₹6.15L) and Mobile App (₹2.89L) hold untapped upside.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17920" y="2651760"/>
            <a:ext cx="5303520" cy="1600200"/>
          </a:xfrm>
          <a:prstGeom prst="roundRect">
            <a:avLst>
              <a:gd name="adj" fmla="val 4571"/>
            </a:avLst>
          </a:prstGeom>
          <a:solidFill>
            <a:srgbClr val="10241B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6473952" y="2907792"/>
            <a:ext cx="548640" cy="54864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24" y="3026664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178040" y="2834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 Profit, Not Just Sales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7178040" y="321868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Bakery and other high-margin categories alongside top-selling Beverages.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40080" y="4480560"/>
            <a:ext cx="5303520" cy="1600200"/>
          </a:xfrm>
          <a:prstGeom prst="roundRect">
            <a:avLst>
              <a:gd name="adj" fmla="val 4571"/>
            </a:avLst>
          </a:prstGeom>
          <a:solidFill>
            <a:srgbClr val="10241B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896112" y="4736592"/>
            <a:ext cx="548640" cy="54864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984" y="4855464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00200" y="4663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 Stock on Bestsellers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1600200" y="504748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Harvest Gold Rusk, Nescafe Coffee &amp; Curd 1kg in continuous stock — they lead demand.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6217920" y="4480560"/>
            <a:ext cx="5303520" cy="1600200"/>
          </a:xfrm>
          <a:prstGeom prst="roundRect">
            <a:avLst>
              <a:gd name="adj" fmla="val 4571"/>
            </a:avLst>
          </a:prstGeom>
          <a:solidFill>
            <a:srgbClr val="10241B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18"/>
          <p:cNvSpPr/>
          <p:nvPr/>
        </p:nvSpPr>
        <p:spPr>
          <a:xfrm>
            <a:off x="6473952" y="4736592"/>
            <a:ext cx="548640" cy="54864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2824" y="4855464"/>
            <a:ext cx="310896" cy="31089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178040" y="4663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Target, Don’t Blanket, Promotions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7178040" y="504748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October’s peak (₹3.44L sales) as a model — plan promotions around proven strong months.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488</Words>
  <Application>Microsoft Office PowerPoint</Application>
  <PresentationFormat>Widescreen</PresentationFormat>
  <Paragraphs>52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Rithiha U</cp:lastModifiedBy>
  <cp:revision>2</cp:revision>
  <dcterms:created xsi:type="dcterms:W3CDTF">2026-08-28T15:47:20Z</dcterms:created>
  <dcterms:modified xsi:type="dcterms:W3CDTF">2026-09-12T10:45:59Z</dcterms:modified>
</cp:coreProperties>
</file>